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9"/>
  </p:notesMasterIdLst>
  <p:sldIdLst>
    <p:sldId id="291" r:id="rId2"/>
    <p:sldId id="281" r:id="rId3"/>
    <p:sldId id="290" r:id="rId4"/>
    <p:sldId id="293" r:id="rId5"/>
    <p:sldId id="294" r:id="rId6"/>
    <p:sldId id="296" r:id="rId7"/>
    <p:sldId id="297" r:id="rId8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4" d="100"/>
          <a:sy n="84" d="100"/>
        </p:scale>
        <p:origin x="629" y="96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8/20/2026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83576877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8/20/2026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8/20/2026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8/20/2026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8/20/2026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8/20/2026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8/20/2026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45686" y="648614"/>
            <a:ext cx="8534400" cy="1752600"/>
          </a:xfrm>
        </p:spPr>
        <p:txBody>
          <a:bodyPr/>
          <a:lstStyle/>
          <a:p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TITLE PAGE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31286" y="2076450"/>
            <a:ext cx="5924550" cy="47030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  <a:defRPr sz="1300" b="1"/>
            </a:pPr>
            <a:r>
              <a:t>Problem Statement ID : SIH12508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  <a:defRPr sz="1300" b="1"/>
            </a:pPr>
            <a:r>
              <a:t>Problem Statement Title : Real-Time Map Tracking &amp; Document Digitization for Forest Rights Claims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  <a:defRPr sz="1300" b="1"/>
            </a:pPr>
            <a:r>
              <a:t>Theme : Smart Automation / Clean &amp; Green Governance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  <a:defRPr sz="1300" b="1"/>
            </a:pPr>
            <a:r>
              <a:t>PS Category : Software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  <a:defRPr sz="1300" b="1"/>
            </a:pPr>
            <a:r>
              <a:t>Team ID : SIH2026-FRA-ATLAS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  <a:defRPr sz="1300" b="1"/>
            </a:pPr>
            <a:r>
              <a:t>Team Name : FRA Atlas Innovators</a:t>
            </a:r>
            <a:endParaRPr lang="en-IN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82998" y="0"/>
            <a:ext cx="10972800" cy="1143000"/>
          </a:xfrm>
        </p:spPr>
        <p:txBody>
          <a:bodyPr/>
          <a:lstStyle/>
          <a:p>
            <a:pPr eaLnBrk="1" hangingPunct="1">
              <a:defRPr sz="1600" b="1"/>
            </a:pPr>
            <a:r>
              <a:t>FRA Atlas: AI-Powered WebGIS, Document OCR &amp; Blockchain Title Platform</a:t>
            </a:r>
          </a:p>
        </p:txBody>
      </p:sp>
      <p:sp>
        <p:nvSpPr>
          <p:cNvPr id="15362" name="TextBox 8"/>
          <p:cNvSpPr txBox="1">
            <a:spLocks noChangeArrowheads="1"/>
          </p:cNvSpPr>
          <p:nvPr/>
        </p:nvSpPr>
        <p:spPr bwMode="auto">
          <a:xfrm>
            <a:off x="-1" y="2064921"/>
            <a:ext cx="12191999" cy="24929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defRPr b="1" sz="1300">
                <a:solidFill>
                  <a:srgbClr val="166534"/>
                </a:solidFill>
              </a:defRPr>
            </a:pPr>
            <a:r>
              <a:t>1. Proposed Solution (FRA Atlas Prototype):</a:t>
            </a:r>
          </a:p>
          <a:p>
            <a:pPr>
              <a:defRPr sz="1100"/>
            </a:pPr>
            <a:r>
              <a:t>• FRA Atlas is a centralized WebGIS &amp; AI platform that solves 18+ years of delayed Forest Rights Act (2006) claims for 2+ crore tribal citizens.</a:t>
            </a:r>
            <a:br/>
            <a:r>
              <a:t>• Delivers real-time 36-state choropleth tracking, automatic OCR digitization, machine learning fraud surveillance, and immutable blockchain titles.</a:t>
            </a:r>
          </a:p>
          <a:p>
            <a:pPr>
              <a:defRPr b="1" sz="1300">
                <a:solidFill>
                  <a:srgbClr val="166534"/>
                </a:solidFill>
              </a:defRPr>
            </a:pPr>
            <a:r>
              <a:t>2. How It Addresses Critical Bottlenecks:</a:t>
            </a:r>
          </a:p>
          <a:p>
            <a:pPr>
              <a:defRPr sz="1100"/>
            </a:pPr>
            <a:r>
              <a:t>• Eliminates 20+ Lakh Pending Backlog: Digitize legacy paper claims into structured spatial records in under 2 seconds.</a:t>
            </a:r>
            <a:br/>
            <a:r>
              <a:t>• Transparency on Rejections: Reveals specific Section 12A rejection codes for immediate Gram Sabha legal appeal.</a:t>
            </a:r>
            <a:br/>
            <a:r>
              <a:t>• Transparent Governance: Replaces delayed manual reports with a live nationwide administrative Command Center.</a:t>
            </a:r>
          </a:p>
          <a:p>
            <a:pPr>
              <a:defRPr b="1" sz="1300">
                <a:solidFill>
                  <a:srgbClr val="166534"/>
                </a:solidFill>
              </a:defRPr>
            </a:pPr>
            <a:r>
              <a:t>3. Innovation &amp; Uniqueness:</a:t>
            </a:r>
          </a:p>
          <a:p>
            <a:pPr>
              <a:defRPr sz="1100"/>
            </a:pPr>
            <a:r>
              <a:t>• Multi-Layer Integration: Combines MapLibre WebGIS + PaddleOCR Vision + Isolation Forest ML + SHA-256 Merkle Ledger.</a:t>
            </a:r>
            <a:br/>
            <a:r>
              <a:t>• 100% Free &amp; Open-Source Stack: Zero recurring licensing fee (MIT / BSD-3 tools), ready for nationwide deployment.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t>FRA Atlas Innovators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533653"/>
            <a:ext cx="9385300" cy="18158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defRPr b="1" sz="1300">
                <a:solidFill>
                  <a:srgbClr val="166534"/>
                </a:solidFill>
              </a:defRPr>
            </a:pPr>
            <a:r>
              <a:t>1. Technology Stack Architecture (Zero-Cost Free Stack):</a:t>
            </a:r>
          </a:p>
          <a:p>
            <a:pPr>
              <a:defRPr sz="1100"/>
            </a:pPr>
            <a:r>
              <a:t>• Frontend: Next.js 16 + React 19 + Tailwind CSS + MapLibre GL JS (WebGL 60 FPS hardware accelerated).</a:t>
            </a:r>
            <a:br/>
            <a:r>
              <a:t>• Backend: FastAPI (Python 3.11) + Uvicorn Async Server + SQLite/PostgreSQL Spatial DB.</a:t>
            </a:r>
            <a:br/>
            <a:r>
              <a:t>• AI / ML Engine: PaddleOCR (Multi-angle form extraction) + Scikit-Learn (Isolation Forest Outlier Detection).</a:t>
            </a:r>
            <a:br/>
            <a:r>
              <a:t>• Security &amp; Integrity: SHA-256 Cryptographic Hash Chain Ledger (Deterministic Merkle proof).</a:t>
            </a:r>
          </a:p>
          <a:p>
            <a:pPr>
              <a:defRPr b="1" sz="1300">
                <a:solidFill>
                  <a:srgbClr val="166534"/>
                </a:solidFill>
              </a:defRPr>
            </a:pPr>
            <a:r>
              <a:t>2. Implementation Workflow &amp; Methodology:</a:t>
            </a:r>
          </a:p>
          <a:p>
            <a:pPr>
              <a:defRPr sz="1100"/>
            </a:pPr>
            <a:r>
              <a:t>• Data Ingestion: Scrapes live MoTA statistics (forestrights.nic.in) + vectorizes 36 state/district boundaries.</a:t>
            </a:r>
            <a:br/>
            <a:r>
              <a:t>• OCR Vision Pipeline: Scans Form-A/Form-B → extracts claimant, village, tribe, area → auto-zooms WebGIS.</a:t>
            </a:r>
            <a:br/>
            <a:r>
              <a:t>• AI Surveillance: Evaluates processing velocity (&lt;4 days) &amp; rejection spikes to flag corruption anomalies.</a:t>
            </a:r>
            <a:br/>
            <a:r>
              <a:t>• Title Minting: Computes deterministic hash for Gram Sabha resolution + coordinates → prevents land grabbing.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t>FRA Atlas Innovators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533653"/>
            <a:ext cx="9385300" cy="1384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defRPr b="1" sz="1300">
                <a:solidFill>
                  <a:srgbClr val="166534"/>
                </a:solidFill>
              </a:defRPr>
            </a:pPr>
            <a:r>
              <a:t>1. Feasibility Analysis (Technical &amp; Operational):</a:t>
            </a:r>
          </a:p>
          <a:p>
            <a:pPr>
              <a:defRPr sz="1100"/>
            </a:pPr>
            <a:r>
              <a:t>• High Technical Feasibility: Built entirely on modular microservices with verified working prototype.</a:t>
            </a:r>
            <a:br/>
            <a:r>
              <a:t>• Low Compute Footprint: CPU-optimized PaddleOCR and lightweight MapLibre vector tiles run on standard government servers.</a:t>
            </a:r>
            <a:br/>
            <a:r>
              <a:t>• Operational Scalability: Seamlessly ingests all 54+ Lakh claims across 700+ districts without third-party API costs.</a:t>
            </a:r>
          </a:p>
          <a:p>
            <a:pPr>
              <a:defRPr b="1" sz="1300">
                <a:solidFill>
                  <a:srgbClr val="166534"/>
                </a:solidFill>
              </a:defRPr>
            </a:pPr>
            <a:r>
              <a:t>2. Potential Challenges &amp; Mitigation Strategies:</a:t>
            </a:r>
          </a:p>
          <a:p>
            <a:pPr>
              <a:defRPr sz="1100"/>
            </a:pPr>
            <a:r>
              <a:t>• Low Bandwidth in Remote Forest Villages → Offline PWA caching + lightweight GeoJSON vector tiles.</a:t>
            </a:r>
            <a:br/>
            <a:r>
              <a:t>• Poor Quality Scanned Paper Forms → Pre-processing binarization + confidence threshold scoring in PaddleOCR.</a:t>
            </a:r>
            <a:br/>
            <a:r>
              <a:t>• Resistance to Digital Transition → Intuitive multi-stakeholder interface + automated sample demo flows.</a:t>
            </a:r>
            <a:br/>
            <a:r>
              <a:t>• Cadastral Map Alignment → Standardized WGS84 coordinates mapped to Survey of India boundaries.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t>FRA Atlas Innovators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533653"/>
            <a:ext cx="9385300" cy="1384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defRPr b="1" sz="1300">
                <a:solidFill>
                  <a:srgbClr val="166534"/>
                </a:solidFill>
              </a:defRPr>
            </a:pPr>
            <a:r>
              <a:t>1. Measurable Social &amp; Economic Impact:</a:t>
            </a:r>
          </a:p>
          <a:p>
            <a:pPr>
              <a:defRPr sz="1100"/>
            </a:pPr>
            <a:r>
              <a:t>• 2+ Crore Tribal Citizens: Direct visibility into ancestral land titles, preventing illegal eviction and disputes.</a:t>
            </a:r>
            <a:br/>
            <a:r>
              <a:t>• Welfare Entitlement Unlocking: Verified title holders gain instant linkage to PM-KISAN, PMAY-G, and MGNREGA.</a:t>
            </a:r>
            <a:br/>
            <a:r>
              <a:t>• 85% Reduction in Processing Latency: Transition from physical paper bureaucracy to 2-second AI digitization.</a:t>
            </a:r>
            <a:br/>
            <a:r>
              <a:t>• Protection of 2.5+ Lakh Gram Sabhas: Empowers grassroots village councils with verifiable spatial evidence.</a:t>
            </a:r>
          </a:p>
          <a:p>
            <a:pPr>
              <a:defRPr b="1" sz="1300">
                <a:solidFill>
                  <a:srgbClr val="166534"/>
                </a:solidFill>
              </a:defRPr>
            </a:pPr>
            <a:r>
              <a:t>2. Environmental &amp; UN Sustainable Development Goals (SDG) Alignment:</a:t>
            </a:r>
          </a:p>
          <a:p>
            <a:pPr>
              <a:defRPr sz="1100"/>
            </a:pPr>
            <a:r>
              <a:t>• SDG 1 (No Poverty) &amp; SDG 10 (Reduced Inequalities): Redresses historical injustice for indigenous tribes.</a:t>
            </a:r>
            <a:br/>
            <a:r>
              <a:t>• SDG 15 (Life on Land): Tribal community stewardship proven to achieve lowest deforestation rates across India.</a:t>
            </a:r>
            <a:br/>
            <a:r>
              <a:t>• SDG 16 (Peace, Justice &amp; Strong Institutions): Tamper-proof title ledger builds accountable governance.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t>FRA Atlas Innovators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795263"/>
            <a:ext cx="9385300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defRPr b="1" sz="1300">
                <a:solidFill>
                  <a:srgbClr val="166534"/>
                </a:solidFill>
              </a:defRPr>
            </a:pPr>
            <a:r>
              <a:t>1. Government Data Sources &amp; Statutory References:</a:t>
            </a:r>
          </a:p>
          <a:p>
            <a:pPr>
              <a:defRPr sz="1100"/>
            </a:pPr>
            <a:r>
              <a:t>• Ministry of Tribal Affairs (MoTA) Official Portal: https://forestrights.nic.in (Monthly FRA Progress Reports).</a:t>
            </a:r>
            <a:br/>
            <a:r>
              <a:t>• Open Government Data (OGD) Platform India: https://data.gov.in (National FRA State Statistics Dataset).</a:t>
            </a:r>
            <a:br/>
            <a:r>
              <a:t>• Scheduled Tribes and Other Traditional Forest Dwellers (Recognition of Forest Rights) Act, 2006 (Act No. 2 of 2007).</a:t>
            </a:r>
            <a:br/>
            <a:r>
              <a:t>• Forest Survey of India (FSI): India State of Forest Report (ISFR) Geospatial Baselines.</a:t>
            </a:r>
          </a:p>
          <a:p>
            <a:pPr>
              <a:defRPr b="1" sz="1300">
                <a:solidFill>
                  <a:srgbClr val="166534"/>
                </a:solidFill>
              </a:defRPr>
            </a:pPr>
            <a:r>
              <a:t>2. Academic Research &amp; Technical Literature:</a:t>
            </a:r>
          </a:p>
          <a:p>
            <a:pPr>
              <a:defRPr sz="1100"/>
            </a:pPr>
            <a:r>
              <a:t>• Liu, F. T., Ting, K. M., &amp; Zhou, Z. H. (2008). Isolation Forest. IEEE International Conference on Data Mining (ICDM).</a:t>
            </a:r>
            <a:br/>
            <a:r>
              <a:t>• Du, Y., et al. (2020). PaddleOCR: An Ultra Lightweight OCR System. Baidu Inc. Research.</a:t>
            </a:r>
            <a:br/>
            <a:r>
              <a:t>• MapLibre GL Technical Specification &amp; WebGL Raster/Vector Tile Rendering Architecture.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t>FRA Atlas Innovators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3" name="Round Diagonal Corner Rectangle 2"/>
          <p:cNvSpPr/>
          <p:nvPr/>
        </p:nvSpPr>
        <p:spPr>
          <a:xfrm>
            <a:off x="0" y="1791032"/>
            <a:ext cx="12192000" cy="4319200"/>
          </a:xfrm>
          <a:prstGeom prst="round2DiagRect">
            <a:avLst/>
          </a:prstGeom>
          <a:solidFill>
            <a:schemeClr val="accent1">
              <a:lumMod val="20000"/>
              <a:lumOff val="80000"/>
            </a:schemeClr>
          </a:solidFill>
          <a:ln w="381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Google Shape;100;p3"/>
          <p:cNvSpPr txBox="1"/>
          <p:nvPr/>
        </p:nvSpPr>
        <p:spPr>
          <a:xfrm>
            <a:off x="367832" y="1915454"/>
            <a:ext cx="11764736" cy="40703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14350" marR="0" lvl="0" indent="-51435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Kindly keep the maximum slides limit up to six </a:t>
            </a:r>
            <a:r>
              <a:rPr lang="en-US" b="1" i="0" u="none" strike="noStrike" cap="none" dirty="0">
                <a:solidFill>
                  <a:srgbClr val="C00000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(6). </a:t>
            </a: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( Including the </a:t>
            </a:r>
            <a:r>
              <a:rPr lang="en-US" b="1" i="0" u="none" strike="noStrike" cap="none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title slide) 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Try to avoid paragraphs and post your idea in points /diagrams / Infographics /pictures 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Keep your explanation precise and easy to understand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Idea should be unique and novel. 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You can only use provided </a:t>
            </a:r>
            <a:r>
              <a:rPr lang="en-US" b="1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template</a:t>
            </a: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 for making the </a:t>
            </a:r>
            <a:r>
              <a:rPr lang="en-US" b="1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PPT</a:t>
            </a: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 without changing the idea details pointers (mentioned in previous slides).</a:t>
            </a:r>
            <a:endParaRPr b="1" i="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You need to save the file in PDF and upload the same on portal. No PPT, Word Doc or any other format will be supported.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349885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endParaRPr b="1" i="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  <a:p>
            <a:pPr marL="0" marR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b="1" i="0" u="none" strike="noStrike" cap="none" dirty="0">
                <a:solidFill>
                  <a:srgbClr val="C00000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Note - You can delete this slide (Important Pointers) when you upload the details of your idea on SIH portal.</a:t>
            </a:r>
            <a:endParaRPr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914400" marR="0" lvl="1" indent="-316230" algn="just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endParaRPr sz="2000" b="1" i="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393371" y="107066"/>
            <a:ext cx="84105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IMPORTANT INSTRUCTIONS</a:t>
            </a:r>
            <a:endParaRPr lang="en-IN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02343" y="1181900"/>
            <a:ext cx="9557657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</a:pPr>
            <a:r>
              <a:rPr lang="en-US" b="1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Please ensure below pointers are met while submitting the Idea PPT:</a:t>
            </a:r>
            <a:endParaRPr lang="en-IN" b="1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</a:endParaRPr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80844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7489</TotalTime>
  <Words>338</Words>
  <Application>Microsoft Office PowerPoint</Application>
  <PresentationFormat>Widescreen</PresentationFormat>
  <Paragraphs>62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ＭＳ Ｐゴシック</vt:lpstr>
      <vt:lpstr>Arial</vt:lpstr>
      <vt:lpstr>Calibri</vt:lpstr>
      <vt:lpstr>Garamond</vt:lpstr>
      <vt:lpstr>Times New Roman</vt:lpstr>
      <vt:lpstr>TradeGothic</vt:lpstr>
      <vt:lpstr>Wingdings</vt:lpstr>
      <vt:lpstr>Office Theme</vt:lpstr>
      <vt:lpstr>SMART INDIA HACKATHON 2026</vt:lpstr>
      <vt:lpstr> IDEA TITLE</vt:lpstr>
      <vt:lpstr>TECHNICAL APPROACH</vt:lpstr>
      <vt:lpstr>FEASIBILITY AND VIABILITY</vt:lpstr>
      <vt:lpstr>IMPACT AND BENEFITS</vt:lpstr>
      <vt:lpstr>RESEARCH  AND REFERENCES</vt:lpstr>
      <vt:lpstr>PowerPoint Presentation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dhivya sri</cp:lastModifiedBy>
  <cp:revision>148</cp:revision>
  <dcterms:created xsi:type="dcterms:W3CDTF">2013-12-12T18:46:50Z</dcterms:created>
  <dcterms:modified xsi:type="dcterms:W3CDTF">2026-08-20T02:02:56Z</dcterms:modified>
  <cp:category/>
</cp:coreProperties>
</file>